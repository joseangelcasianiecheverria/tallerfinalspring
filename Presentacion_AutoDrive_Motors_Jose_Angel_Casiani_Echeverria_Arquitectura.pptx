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5" r:id="rId16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9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0000"/>
          </a:solidFill>
          <a:ln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64008" cy="6858000"/>
          </a:xfrm>
          <a:prstGeom prst="rect">
            <a:avLst/>
          </a:prstGeom>
          <a:solidFill>
            <a:srgbClr val="FFD500"/>
          </a:solidFill>
          <a:ln>
            <a:solidFill>
              <a:srgbClr val="FFD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66760" y="0"/>
            <a:ext cx="3822191" cy="6858000"/>
          </a:xfrm>
          <a:prstGeom prst="rect">
            <a:avLst/>
          </a:prstGeom>
          <a:solidFill>
            <a:srgbClr val="20232B"/>
          </a:solidFill>
          <a:ln>
            <a:solidFill>
              <a:srgbClr val="20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53728" y="960120"/>
            <a:ext cx="1938528" cy="1938528"/>
          </a:xfrm>
          <a:prstGeom prst="roundRect">
            <a:avLst>
              <a:gd name="adj" fmla="val 8000"/>
            </a:avLst>
          </a:prstGeom>
          <a:solidFill>
            <a:srgbClr val="D40000"/>
          </a:solidFill>
          <a:ln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1371600"/>
            <a:ext cx="1609344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AD</a:t>
            </a:r>
          </a:p>
        </p:txBody>
      </p:sp>
      <p:sp>
        <p:nvSpPr>
          <p:cNvPr id="7" name="Rectangle 6"/>
          <p:cNvSpPr/>
          <p:nvPr/>
        </p:nvSpPr>
        <p:spPr>
          <a:xfrm>
            <a:off x="9253728" y="3090672"/>
            <a:ext cx="1938528" cy="109728"/>
          </a:xfrm>
          <a:prstGeom prst="rect">
            <a:avLst/>
          </a:prstGeom>
          <a:solidFill>
            <a:srgbClr val="FFD500"/>
          </a:solidFill>
          <a:ln>
            <a:solidFill>
              <a:srgbClr val="FFD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758952"/>
            <a:ext cx="6400800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D500"/>
                </a:solidFill>
                <a:latin typeface="Aptos"/>
              </a:rPr>
              <a:t>PROYECTO ACADÉMICO  |  ANÁLISIS Y DISEÑO DE 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72768"/>
            <a:ext cx="7132320" cy="1371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ptos"/>
              </a:rPr>
              <a:t>AutoDrive
Motors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246120"/>
            <a:ext cx="6492240" cy="7863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D9D9DD"/>
                </a:solidFill>
                <a:latin typeface="Aptos"/>
              </a:rPr>
              <a:t>Sistema web para la gestión integral
de una concesionaria de vehículos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4681728"/>
            <a:ext cx="6355080" cy="0"/>
          </a:xfrm>
          <a:prstGeom prst="line">
            <a:avLst/>
          </a:prstGeom>
          <a:ln w="12700">
            <a:solidFill>
              <a:srgbClr val="505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50392" y="4901184"/>
            <a:ext cx="512064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D500"/>
                </a:solidFill>
                <a:latin typeface="Aptos"/>
              </a:rPr>
              <a:t>AUTOR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5193792"/>
            <a:ext cx="621792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ptos"/>
              </a:rPr>
              <a:t>Jose Angel Casiani Echeverria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675887"/>
            <a:ext cx="2148840" cy="5486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CLIENTES  |  VEHÍCULOS
VENTAS  |  SERVICIO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5742432"/>
            <a:ext cx="2560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C9CBD0"/>
                </a:solidFill>
                <a:latin typeface="Aptos"/>
              </a:rPr>
              <a:t>Cartagena, Colombia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10160">
            <a:solidFill>
              <a:srgbClr val="3A3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519672"/>
            <a:ext cx="64008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9BBC1"/>
                </a:solidFill>
                <a:latin typeface="Aptos"/>
              </a:rPr>
              <a:t>AUTODRIVE MOTORS  |  PRESENTACION DEL PROYECTO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519672"/>
            <a:ext cx="6858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B9BBC1"/>
                </a:solidFill>
                <a:latin typeface="Aptos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548640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40000"/>
                </a:solidFill>
                <a:latin typeface="Aptos"/>
              </a:rPr>
              <a:t>01 /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7191F"/>
                </a:solidFill>
                <a:latin typeface="Aptos"/>
              </a:rPr>
              <a:t>Del registro manual a una gestión confiable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71016"/>
            <a:ext cx="10789920" cy="40233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6570"/>
                </a:solidFill>
                <a:latin typeface="Aptos"/>
              </a:rPr>
              <a:t>La aplicación centraliza la información y hace visibles los estados operativos del concesionario.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429000" cy="2057400"/>
          </a:xfrm>
          <a:prstGeom prst="roundRect">
            <a:avLst>
              <a:gd name="adj" fmla="val 8000"/>
            </a:avLst>
          </a:prstGeom>
          <a:solidFill>
            <a:srgbClr val="FDEEEE"/>
          </a:solidFill>
          <a:ln>
            <a:solidFill>
              <a:srgbClr val="E6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73152" cy="2057400"/>
          </a:xfrm>
          <a:prstGeom prst="rect">
            <a:avLst/>
          </a:prstGeom>
          <a:solidFill>
            <a:srgbClr val="D40000"/>
          </a:solidFill>
          <a:ln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30552"/>
            <a:ext cx="303580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191F"/>
                </a:solidFill>
                <a:latin typeface="Aptos"/>
              </a:rPr>
              <a:t>Información dispersa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60320"/>
            <a:ext cx="3035808" cy="1344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06570"/>
                </a:solidFill>
                <a:latin typeface="Aptos"/>
              </a:rPr>
              <a:t>Hojas de cálculo y documentos dificultan mantener clientes, inventario y ventas sincronizados.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965960"/>
            <a:ext cx="3429000" cy="2057400"/>
          </a:xfrm>
          <a:prstGeom prst="roundRect">
            <a:avLst>
              <a:gd name="adj" fmla="val 8000"/>
            </a:avLst>
          </a:prstGeom>
          <a:solidFill>
            <a:srgbClr val="FFF8DC"/>
          </a:solidFill>
          <a:ln>
            <a:solidFill>
              <a:srgbClr val="E6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965960"/>
            <a:ext cx="73152" cy="2057400"/>
          </a:xfrm>
          <a:prstGeom prst="rect">
            <a:avLst/>
          </a:prstGeom>
          <a:solidFill>
            <a:srgbClr val="FFD500"/>
          </a:solidFill>
          <a:ln>
            <a:solidFill>
              <a:srgbClr val="FFD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1144" y="2130552"/>
            <a:ext cx="303580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191F"/>
                </a:solidFill>
                <a:latin typeface="Aptos"/>
              </a:rPr>
              <a:t>Riesgo de errores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2560320"/>
            <a:ext cx="3035808" cy="1344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06570"/>
                </a:solidFill>
                <a:latin typeface="Aptos"/>
              </a:rPr>
              <a:t>Una actualización tardía puede mostrar como disponible un vehículo ya vendido o en servicio.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65960"/>
            <a:ext cx="3429000" cy="2057400"/>
          </a:xfrm>
          <a:prstGeom prst="roundRect">
            <a:avLst>
              <a:gd name="adj" fmla="val 8000"/>
            </a:avLst>
          </a:prstGeom>
          <a:solidFill>
            <a:srgbClr val="EAF1F9"/>
          </a:solidFill>
          <a:ln>
            <a:solidFill>
              <a:srgbClr val="E6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965960"/>
            <a:ext cx="73152" cy="2057400"/>
          </a:xfrm>
          <a:prstGeom prst="rect">
            <a:avLst/>
          </a:prstGeom>
          <a:solidFill>
            <a:srgbClr val="1B4D8F"/>
          </a:solidFill>
          <a:ln>
            <a:solidFill>
              <a:srgbClr val="1B4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2" y="2130552"/>
            <a:ext cx="303580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191F"/>
                </a:solidFill>
                <a:latin typeface="Aptos"/>
              </a:rPr>
              <a:t>Poco seguimiento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2560320"/>
            <a:ext cx="3035808" cy="1344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06570"/>
                </a:solidFill>
                <a:latin typeface="Aptos"/>
              </a:rPr>
              <a:t>Sin historial unificado, consultar operaciones y servicios anteriores toma más tiempo.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434840"/>
            <a:ext cx="10789920" cy="1143000"/>
          </a:xfrm>
          <a:prstGeom prst="roundRect">
            <a:avLst>
              <a:gd name="adj" fmla="val 8000"/>
            </a:avLst>
          </a:prstGeom>
          <a:solidFill>
            <a:srgbClr val="17191F"/>
          </a:solidFill>
          <a:ln>
            <a:solidFill>
              <a:srgbClr val="171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636008"/>
            <a:ext cx="1874519" cy="6400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D500"/>
                </a:solidFill>
                <a:latin typeface="Aptos"/>
              </a:rPr>
              <a:t>OBJETIVO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572000"/>
            <a:ext cx="8366760" cy="7863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Administrar clientes, vehículos, ventas y servicios desde una sola plataforma, con reglas aplicadas en el servidor y la base de datos.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10160">
            <a:solidFill>
              <a:srgbClr val="E6E6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519672"/>
            <a:ext cx="64008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D818A"/>
                </a:solidFill>
                <a:latin typeface="Aptos"/>
              </a:rPr>
              <a:t>AUTODRIVE MOTORS  |  PRESENTACION DEL PROYECTO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519672"/>
            <a:ext cx="6858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D818A"/>
                </a:solidFill>
                <a:latin typeface="Aptos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548640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40000"/>
                </a:solidFill>
                <a:latin typeface="Aptos"/>
              </a:rPr>
              <a:t>02 / PROPUESTA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7191F"/>
                </a:solidFill>
                <a:latin typeface="Aptos"/>
              </a:rPr>
              <a:t>Una fuente de verdad para cada operación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71016"/>
            <a:ext cx="10789920" cy="40233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6570"/>
                </a:solidFill>
                <a:latin typeface="Aptos"/>
              </a:rPr>
              <a:t>El sistema no se limita a registrar: valida y actualiza el estado asociado a cada movimiento.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338328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14884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1B4D8F"/>
          </a:solidFill>
          <a:ln>
            <a:solidFill>
              <a:srgbClr val="1B4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85416"/>
            <a:ext cx="64008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288036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7191F"/>
                </a:solidFill>
                <a:latin typeface="Aptos"/>
              </a:rPr>
              <a:t>Inventario visible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29584"/>
            <a:ext cx="2880360" cy="1170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6570"/>
                </a:solidFill>
                <a:latin typeface="Aptos"/>
              </a:rPr>
              <a:t>Consulta vehículos por marca y disponibilidad. Los estados se coordinan con ventas y servicios.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74519"/>
            <a:ext cx="338328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99432" y="214884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D40000"/>
          </a:solidFill>
          <a:ln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185416"/>
            <a:ext cx="64008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971800"/>
            <a:ext cx="288036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7191F"/>
                </a:solidFill>
                <a:latin typeface="Aptos"/>
              </a:rPr>
              <a:t>Operaciones seguras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3529584"/>
            <a:ext cx="2880360" cy="1170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6570"/>
                </a:solidFill>
                <a:latin typeface="Aptos"/>
              </a:rPr>
              <a:t>Reglas protegen precios, placa y correo únicos, y evitan vender dos veces el mismo vehículo.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1874519"/>
            <a:ext cx="338328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02168" y="214884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B6B3A"/>
          </a:solidFill>
          <a:ln>
            <a:solidFill>
              <a:srgbClr val="0B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2185416"/>
            <a:ext cx="64008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971800"/>
            <a:ext cx="288036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7191F"/>
                </a:solidFill>
                <a:latin typeface="Aptos"/>
              </a:rPr>
              <a:t>Continuidad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3529584"/>
            <a:ext cx="2880360" cy="1170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6570"/>
                </a:solidFill>
                <a:latin typeface="Aptos"/>
              </a:rPr>
              <a:t>La tasa de cambio puede usar una referencia; la falta de conexión externa no impide registrar una venta.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321808"/>
            <a:ext cx="10579608" cy="566928"/>
          </a:xfrm>
          <a:prstGeom prst="roundRect">
            <a:avLst>
              <a:gd name="adj" fmla="val 8000"/>
            </a:avLst>
          </a:prstGeom>
          <a:solidFill>
            <a:srgbClr val="FFF8DC"/>
          </a:solidFill>
          <a:ln>
            <a:solidFill>
              <a:srgbClr val="FFF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404104"/>
            <a:ext cx="101955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7191F"/>
                </a:solidFill>
                <a:latin typeface="Aptos"/>
              </a:rPr>
              <a:t>Principio central: el estado del vehículo refleja lo que realmente ocurre en el negocio.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10160">
            <a:solidFill>
              <a:srgbClr val="E6E6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6519672"/>
            <a:ext cx="64008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D818A"/>
                </a:solidFill>
                <a:latin typeface="Aptos"/>
              </a:rPr>
              <a:t>AUTODRIVE MOTORS  |  PRESENTACION DEL PROYECTO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519672"/>
            <a:ext cx="6858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D818A"/>
                </a:solidFill>
                <a:latin typeface="Aptos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548640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40000"/>
                </a:solidFill>
                <a:latin typeface="Aptos"/>
              </a:rPr>
              <a:t>03 / FUNCIONALIDADES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7191F"/>
                </a:solidFill>
                <a:latin typeface="Aptos"/>
              </a:rPr>
              <a:t>Cuatro áreas conectadas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71016"/>
            <a:ext cx="10789920" cy="40233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6570"/>
                </a:solidFill>
                <a:latin typeface="Aptos"/>
              </a:rPr>
              <a:t>Cada módulo comparte datos y reglas para mantener coherente la operación diaria.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52120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73152" cy="1508760"/>
          </a:xfrm>
          <a:prstGeom prst="rect">
            <a:avLst/>
          </a:prstGeom>
          <a:solidFill>
            <a:srgbClr val="D40000"/>
          </a:solidFill>
          <a:ln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039112"/>
            <a:ext cx="481888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191F"/>
                </a:solidFill>
                <a:latin typeface="Aptos"/>
              </a:rPr>
              <a:t>Clientes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468879"/>
            <a:ext cx="4818888" cy="79552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06570"/>
                </a:solidFill>
                <a:latin typeface="Aptos"/>
              </a:rPr>
              <a:t>Registro, consulta y actualización; el correo identifica de forma única a cada cliente.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74519"/>
            <a:ext cx="52120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874519"/>
            <a:ext cx="73152" cy="1508760"/>
          </a:xfrm>
          <a:prstGeom prst="rect">
            <a:avLst/>
          </a:prstGeom>
          <a:solidFill>
            <a:srgbClr val="1B4D8F"/>
          </a:solidFill>
          <a:ln>
            <a:solidFill>
              <a:srgbClr val="1B4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2039112"/>
            <a:ext cx="481888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191F"/>
                </a:solidFill>
                <a:latin typeface="Aptos"/>
              </a:rPr>
              <a:t>Vehículos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468879"/>
            <a:ext cx="4818888" cy="79552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06570"/>
                </a:solidFill>
                <a:latin typeface="Aptos"/>
              </a:rPr>
              <a:t>Catálogo con filtros, datos principales y estados: DISPONIBLE, EN_MANTENIMIENTO y VENDIDO.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03320"/>
            <a:ext cx="52120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703320"/>
            <a:ext cx="73152" cy="1508760"/>
          </a:xfrm>
          <a:prstGeom prst="rect">
            <a:avLst/>
          </a:prstGeom>
          <a:solidFill>
            <a:srgbClr val="FFD500"/>
          </a:solidFill>
          <a:ln>
            <a:solidFill>
              <a:srgbClr val="FFD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867911"/>
            <a:ext cx="481888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191F"/>
                </a:solidFill>
                <a:latin typeface="Aptos"/>
              </a:rPr>
              <a:t>Ventas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297680"/>
            <a:ext cx="4818888" cy="79552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06570"/>
                </a:solidFill>
                <a:latin typeface="Aptos"/>
              </a:rPr>
              <a:t>Simulación de total y descuento, registro de fecha y precio, y consulta del historial.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03320"/>
            <a:ext cx="52120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703320"/>
            <a:ext cx="73152" cy="1508760"/>
          </a:xfrm>
          <a:prstGeom prst="rect">
            <a:avLst/>
          </a:prstGeom>
          <a:solidFill>
            <a:srgbClr val="0B6B3A"/>
          </a:solidFill>
          <a:ln>
            <a:solidFill>
              <a:srgbClr val="0B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3867911"/>
            <a:ext cx="481888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191F"/>
                </a:solidFill>
                <a:latin typeface="Aptos"/>
              </a:rPr>
              <a:t>Servicios e historial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4297680"/>
            <a:ext cx="4818888" cy="79552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06570"/>
                </a:solidFill>
                <a:latin typeface="Aptos"/>
              </a:rPr>
              <a:t>Apertura, actualización y cierre de servicios; historial ordenado por vehículo.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86400"/>
            <a:ext cx="1042416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606570"/>
                </a:solidFill>
                <a:latin typeface="Aptos"/>
              </a:rPr>
              <a:t>Incluye resumen de actividad y consulta de tasa de cambio para apoyar la lectura de precios en USD.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10160">
            <a:solidFill>
              <a:srgbClr val="E6E6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6519672"/>
            <a:ext cx="64008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D818A"/>
                </a:solidFill>
                <a:latin typeface="Aptos"/>
              </a:rPr>
              <a:t>AUTODRIVE MOTORS  |  PRESENTACION DEL PROYECTO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519672"/>
            <a:ext cx="6858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D818A"/>
                </a:solidFill>
                <a:latin typeface="Aptos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548640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40000"/>
                </a:solidFill>
                <a:latin typeface="Aptos"/>
              </a:rPr>
              <a:t>04 / FLUJO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7191F"/>
                </a:solidFill>
                <a:latin typeface="Aptos"/>
              </a:rPr>
              <a:t>Una venta segura, de principio a 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71016"/>
            <a:ext cx="10789920" cy="40233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6570"/>
                </a:solidFill>
                <a:latin typeface="Aptos"/>
              </a:rPr>
              <a:t>La operación se valida dentro de una transacción y el inventario cambia como parte del mismo proceso.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423160"/>
            <a:ext cx="21488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63040" y="205740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D40000"/>
          </a:solidFill>
          <a:ln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093976"/>
            <a:ext cx="64008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880360"/>
            <a:ext cx="1819656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7191F"/>
                </a:solidFill>
                <a:latin typeface="Aptos"/>
              </a:rPr>
              <a:t>Seleccionar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401568"/>
            <a:ext cx="1819656" cy="6858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606570"/>
                </a:solidFill>
                <a:latin typeface="Aptos"/>
              </a:rPr>
              <a:t>Cliente y vehículo disponible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3383280"/>
            <a:ext cx="530352" cy="0"/>
          </a:xfrm>
          <a:prstGeom prst="line">
            <a:avLst/>
          </a:prstGeom>
          <a:ln w="25400">
            <a:solidFill>
              <a:srgbClr val="D4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93591" y="2423160"/>
            <a:ext cx="21488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205740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D40000"/>
          </a:solidFill>
          <a:ln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093976"/>
            <a:ext cx="64008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8183" y="2880360"/>
            <a:ext cx="1819656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7191F"/>
                </a:solidFill>
                <a:latin typeface="Aptos"/>
              </a:rPr>
              <a:t>Simular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8183" y="3401568"/>
            <a:ext cx="1819656" cy="6858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606570"/>
                </a:solidFill>
                <a:latin typeface="Aptos"/>
              </a:rPr>
              <a:t>Precio, descuento y total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06440" y="3383280"/>
            <a:ext cx="530352" cy="0"/>
          </a:xfrm>
          <a:prstGeom prst="line">
            <a:avLst/>
          </a:prstGeom>
          <a:ln w="25400">
            <a:solidFill>
              <a:srgbClr val="D4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73952" y="2423160"/>
            <a:ext cx="21488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23760" y="205740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17191F"/>
          </a:solidFill>
          <a:ln>
            <a:solidFill>
              <a:srgbClr val="171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093976"/>
            <a:ext cx="64008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544" y="2880360"/>
            <a:ext cx="1819656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7191F"/>
                </a:solidFill>
                <a:latin typeface="Aptos"/>
              </a:rPr>
              <a:t>Validar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3401568"/>
            <a:ext cx="1819656" cy="6858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606570"/>
                </a:solidFill>
                <a:latin typeface="Aptos"/>
              </a:rPr>
              <a:t>Bloqueo y estado del vehículo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86800" y="3383280"/>
            <a:ext cx="530352" cy="0"/>
          </a:xfrm>
          <a:prstGeom prst="line">
            <a:avLst/>
          </a:prstGeom>
          <a:ln w="25400">
            <a:solidFill>
              <a:srgbClr val="D4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354311" y="2423160"/>
            <a:ext cx="21488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104119" y="205740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D40000"/>
          </a:solidFill>
          <a:ln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19" y="2093976"/>
            <a:ext cx="64008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18903" y="2880360"/>
            <a:ext cx="1819656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7191F"/>
                </a:solidFill>
                <a:latin typeface="Aptos"/>
              </a:rPr>
              <a:t>Registrar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18903" y="3401568"/>
            <a:ext cx="1819656" cy="6858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606570"/>
                </a:solidFill>
                <a:latin typeface="Aptos"/>
              </a:rPr>
              <a:t>Venta y cambio a VENDIDO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892040"/>
            <a:ext cx="10332720" cy="777240"/>
          </a:xfrm>
          <a:prstGeom prst="roundRect">
            <a:avLst>
              <a:gd name="adj" fmla="val 8000"/>
            </a:avLst>
          </a:prstGeom>
          <a:solidFill>
            <a:srgbClr val="FDEEEE"/>
          </a:solidFill>
          <a:ln>
            <a:solidFill>
              <a:srgbClr val="FD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5038344"/>
            <a:ext cx="987552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A80000"/>
                </a:solidFill>
                <a:latin typeface="Aptos"/>
              </a:rPr>
              <a:t>Regla comercial: 5 % de descuento si el precio supera $100.000.000 COP.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806440"/>
            <a:ext cx="1005840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06570"/>
                </a:solidFill>
                <a:latin typeface="Aptos"/>
              </a:rPr>
              <a:t>Si falla la tasa externa, la venta se conserva; el equivalente en USD puede quedar sin valor.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10160">
            <a:solidFill>
              <a:srgbClr val="E6E6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6519672"/>
            <a:ext cx="64008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D818A"/>
                </a:solidFill>
                <a:latin typeface="Aptos"/>
              </a:rPr>
              <a:t>AUTODRIVE MOTORS  |  PRESENTACION DEL PROYECTO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519672"/>
            <a:ext cx="6858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D818A"/>
                </a:solidFill>
                <a:latin typeface="Aptos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548640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40000"/>
                </a:solidFill>
                <a:latin typeface="Aptos"/>
              </a:rPr>
              <a:t>05 /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7191F"/>
                </a:solidFill>
                <a:latin typeface="Aptos"/>
              </a:rPr>
              <a:t>Aplicación web y API en una misma plataforma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71016"/>
            <a:ext cx="10789920" cy="40233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6570"/>
                </a:solidFill>
                <a:latin typeface="Aptos"/>
              </a:rPr>
              <a:t>El frontend estático consume la API REST de Spring Boot; la persistencia se realiza con PostgreSQL.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40280"/>
            <a:ext cx="2240280" cy="1463040"/>
          </a:xfrm>
          <a:prstGeom prst="roundRect">
            <a:avLst>
              <a:gd name="adj" fmla="val 8000"/>
            </a:avLst>
          </a:prstGeom>
          <a:solidFill>
            <a:srgbClr val="FDEEEE"/>
          </a:solidFill>
          <a:ln>
            <a:solidFill>
              <a:srgbClr val="E6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240280" cy="109728"/>
          </a:xfrm>
          <a:prstGeom prst="rect">
            <a:avLst/>
          </a:prstGeom>
          <a:solidFill>
            <a:srgbClr val="D40000"/>
          </a:solidFill>
          <a:ln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496312"/>
            <a:ext cx="2020824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D40000"/>
                </a:solidFill>
                <a:latin typeface="Aptos"/>
              </a:rPr>
              <a:t>INTERFAZ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935224"/>
            <a:ext cx="2020824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191F"/>
                </a:solidFill>
                <a:latin typeface="Aptos"/>
              </a:rPr>
              <a:t>HTML  |  CSS  |  JavaScript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240280"/>
            <a:ext cx="2240280" cy="1463040"/>
          </a:xfrm>
          <a:prstGeom prst="roundRect">
            <a:avLst>
              <a:gd name="adj" fmla="val 8000"/>
            </a:avLst>
          </a:prstGeom>
          <a:solidFill>
            <a:srgbClr val="EAF1F9"/>
          </a:solidFill>
          <a:ln>
            <a:solidFill>
              <a:srgbClr val="E6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2240280"/>
            <a:ext cx="2240280" cy="109728"/>
          </a:xfrm>
          <a:prstGeom prst="rect">
            <a:avLst/>
          </a:prstGeom>
          <a:solidFill>
            <a:srgbClr val="1B4D8F"/>
          </a:solidFill>
          <a:ln>
            <a:solidFill>
              <a:srgbClr val="1B4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7328" y="2496312"/>
            <a:ext cx="2020824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B4D8F"/>
                </a:solidFill>
                <a:latin typeface="Aptos"/>
              </a:rPr>
              <a:t>API 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935224"/>
            <a:ext cx="2020824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191F"/>
                </a:solidFill>
                <a:latin typeface="Aptos"/>
              </a:rPr>
              <a:t>Controladores y DTOs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240280"/>
            <a:ext cx="2240280" cy="146304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>
            <a:solidFill>
              <a:srgbClr val="E6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60" y="2240280"/>
            <a:ext cx="2240280" cy="109728"/>
          </a:xfrm>
          <a:prstGeom prst="rect">
            <a:avLst/>
          </a:prstGeom>
          <a:solidFill>
            <a:srgbClr val="0B6B3A"/>
          </a:solidFill>
          <a:ln>
            <a:solidFill>
              <a:srgbClr val="0B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2496312"/>
            <a:ext cx="2020824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B6B3A"/>
                </a:solidFill>
                <a:latin typeface="Aptos"/>
              </a:rPr>
              <a:t>LÓGICA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2935224"/>
            <a:ext cx="2020824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191F"/>
                </a:solidFill>
                <a:latin typeface="Aptos"/>
              </a:rPr>
              <a:t>Servicios y reglas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240280"/>
            <a:ext cx="21945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2240280"/>
            <a:ext cx="2194560" cy="109728"/>
          </a:xfrm>
          <a:prstGeom prst="rect">
            <a:avLst/>
          </a:prstGeom>
          <a:solidFill>
            <a:srgbClr val="17191F"/>
          </a:solidFill>
          <a:ln>
            <a:solidFill>
              <a:srgbClr val="171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5167" y="2496312"/>
            <a:ext cx="1975104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7191F"/>
                </a:solidFill>
                <a:latin typeface="Aptos"/>
              </a:rPr>
              <a:t>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7" y="2935224"/>
            <a:ext cx="1975104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191F"/>
                </a:solidFill>
                <a:latin typeface="Aptos"/>
              </a:rPr>
              <a:t>JPA / Hibernate
PostgreSQL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72384" y="2971800"/>
            <a:ext cx="512064" cy="0"/>
          </a:xfrm>
          <a:prstGeom prst="line">
            <a:avLst/>
          </a:prstGeom>
          <a:ln w="25400">
            <a:solidFill>
              <a:srgbClr val="60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952744" y="2971800"/>
            <a:ext cx="512064" cy="0"/>
          </a:xfrm>
          <a:prstGeom prst="line">
            <a:avLst/>
          </a:prstGeom>
          <a:ln w="25400">
            <a:solidFill>
              <a:srgbClr val="60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833104" y="2971800"/>
            <a:ext cx="329184" cy="0"/>
          </a:xfrm>
          <a:prstGeom prst="line">
            <a:avLst/>
          </a:prstGeom>
          <a:ln w="25400">
            <a:solidFill>
              <a:srgbClr val="60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657600" y="434340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FF8DC"/>
          </a:solidFill>
          <a:ln>
            <a:solidFill>
              <a:srgbClr val="FFF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4471416"/>
            <a:ext cx="329184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A80000"/>
                </a:solidFill>
                <a:latin typeface="Aptos"/>
              </a:rPr>
              <a:t>SERVICIO EXTERNO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773168"/>
            <a:ext cx="329184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7191F"/>
                </a:solidFill>
                <a:latin typeface="Aptos"/>
              </a:rPr>
              <a:t>API de tasa de cambio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6263640" y="3840480"/>
            <a:ext cx="274320" cy="448056"/>
          </a:xfrm>
          <a:prstGeom prst="line">
            <a:avLst/>
          </a:prstGeom>
          <a:ln w="25400">
            <a:solidFill>
              <a:srgbClr val="FFD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818120" y="4443984"/>
            <a:ext cx="338328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06570"/>
                </a:solidFill>
                <a:latin typeface="Aptos"/>
              </a:rPr>
              <a:t>Validación de entrada, manejo centralizado de errores y esquema SQL controlado.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10160">
            <a:solidFill>
              <a:srgbClr val="E6E6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8" y="6519672"/>
            <a:ext cx="64008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D818A"/>
                </a:solidFill>
                <a:latin typeface="Aptos"/>
              </a:rPr>
              <a:t>AUTODRIVE MOTORS  |  PRESENTACION DEL PROYECTO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519672"/>
            <a:ext cx="6858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D818A"/>
                </a:solidFill>
                <a:latin typeface="Aptos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548640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40000"/>
                </a:solidFill>
                <a:latin typeface="Aptos"/>
              </a:rPr>
              <a:t>07 / MODELO Y REGLAS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7191F"/>
                </a:solidFill>
                <a:latin typeface="Aptos"/>
              </a:rPr>
              <a:t>Integridad en cada capa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71016"/>
            <a:ext cx="10789920" cy="40233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6570"/>
                </a:solidFill>
                <a:latin typeface="Aptos"/>
              </a:rPr>
              <a:t>Las restricciones se aplican con validaciones de API, lógica transaccional y restricciones relacionales.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828800"/>
            <a:ext cx="644652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29968"/>
            <a:ext cx="594360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40000"/>
                </a:solidFill>
                <a:latin typeface="Aptos"/>
              </a:rPr>
              <a:t>ENTIDADES PRINCIPALES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697480"/>
            <a:ext cx="2697480" cy="960120"/>
          </a:xfrm>
          <a:prstGeom prst="roundRect">
            <a:avLst>
              <a:gd name="adj" fmla="val 8000"/>
            </a:avLst>
          </a:prstGeom>
          <a:solidFill>
            <a:srgbClr val="FBFBFA"/>
          </a:solidFill>
          <a:ln>
            <a:solidFill>
              <a:srgbClr val="E6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2697480"/>
            <a:ext cx="73152" cy="960120"/>
          </a:xfrm>
          <a:prstGeom prst="rect">
            <a:avLst/>
          </a:prstGeom>
          <a:solidFill>
            <a:srgbClr val="D40000"/>
          </a:solidFill>
          <a:ln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816352"/>
            <a:ext cx="237744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191F"/>
                </a:solidFill>
                <a:latin typeface="Aptos"/>
              </a:rPr>
              <a:t>CLIENTE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3136392"/>
            <a:ext cx="237744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06570"/>
                </a:solidFill>
                <a:latin typeface="Aptos"/>
              </a:rPr>
              <a:t>Un cliente puede tener muchas ventas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697480"/>
            <a:ext cx="2697480" cy="960120"/>
          </a:xfrm>
          <a:prstGeom prst="roundRect">
            <a:avLst>
              <a:gd name="adj" fmla="val 8000"/>
            </a:avLst>
          </a:prstGeom>
          <a:solidFill>
            <a:srgbClr val="FBFBFA"/>
          </a:solidFill>
          <a:ln>
            <a:solidFill>
              <a:srgbClr val="E6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2697480"/>
            <a:ext cx="73152" cy="960120"/>
          </a:xfrm>
          <a:prstGeom prst="rect">
            <a:avLst/>
          </a:prstGeom>
          <a:solidFill>
            <a:srgbClr val="1B4D8F"/>
          </a:solidFill>
          <a:ln>
            <a:solidFill>
              <a:srgbClr val="1B4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2816352"/>
            <a:ext cx="237744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191F"/>
                </a:solidFill>
                <a:latin typeface="Aptos"/>
              </a:rPr>
              <a:t>VEHÍCULO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3136392"/>
            <a:ext cx="237744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06570"/>
                </a:solidFill>
                <a:latin typeface="Aptos"/>
              </a:rPr>
              <a:t>Ventas y servicios asociados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069080"/>
            <a:ext cx="2697480" cy="960120"/>
          </a:xfrm>
          <a:prstGeom prst="roundRect">
            <a:avLst>
              <a:gd name="adj" fmla="val 8000"/>
            </a:avLst>
          </a:prstGeom>
          <a:solidFill>
            <a:srgbClr val="FBFBFA"/>
          </a:solidFill>
          <a:ln>
            <a:solidFill>
              <a:srgbClr val="E6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4069080"/>
            <a:ext cx="73152" cy="960120"/>
          </a:xfrm>
          <a:prstGeom prst="rect">
            <a:avLst/>
          </a:prstGeom>
          <a:solidFill>
            <a:srgbClr val="FFD500"/>
          </a:solidFill>
          <a:ln>
            <a:solidFill>
              <a:srgbClr val="FFD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4187952"/>
            <a:ext cx="237744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191F"/>
                </a:solidFill>
                <a:latin typeface="Aptos"/>
              </a:rPr>
              <a:t>VENTA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4507992"/>
            <a:ext cx="237744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06570"/>
                </a:solidFill>
                <a:latin typeface="Aptos"/>
              </a:rPr>
              <a:t>Fecha, precio, descuento, total y tasa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4069080"/>
            <a:ext cx="2697480" cy="960120"/>
          </a:xfrm>
          <a:prstGeom prst="roundRect">
            <a:avLst>
              <a:gd name="adj" fmla="val 8000"/>
            </a:avLst>
          </a:prstGeom>
          <a:solidFill>
            <a:srgbClr val="FBFBFA"/>
          </a:solidFill>
          <a:ln>
            <a:solidFill>
              <a:srgbClr val="E6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4069080"/>
            <a:ext cx="73152" cy="960120"/>
          </a:xfrm>
          <a:prstGeom prst="rect">
            <a:avLst/>
          </a:prstGeom>
          <a:solidFill>
            <a:srgbClr val="0B6B3A"/>
          </a:solidFill>
          <a:ln>
            <a:solidFill>
              <a:srgbClr val="0B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5112" y="4187952"/>
            <a:ext cx="237744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191F"/>
                </a:solidFill>
                <a:latin typeface="Aptos"/>
              </a:rPr>
              <a:t>SERVICIO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5112" y="4507992"/>
            <a:ext cx="237744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06570"/>
                </a:solidFill>
                <a:latin typeface="Aptos"/>
              </a:rPr>
              <a:t>Tipo, costo, fechas y estado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1956816"/>
            <a:ext cx="365760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40000"/>
                </a:solidFill>
                <a:latin typeface="Aptos"/>
              </a:rPr>
              <a:t>REGLAS DE NEGOCIO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07808" y="2542032"/>
            <a:ext cx="128016" cy="128016"/>
          </a:xfrm>
          <a:prstGeom prst="rect">
            <a:avLst/>
          </a:prstGeom>
          <a:solidFill>
            <a:srgbClr val="D40000"/>
          </a:solidFill>
          <a:ln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45552" y="2450591"/>
            <a:ext cx="342900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7191F"/>
                </a:solidFill>
                <a:latin typeface="Aptos"/>
              </a:rPr>
              <a:t>Unicidad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5552" y="2743200"/>
            <a:ext cx="3429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06570"/>
                </a:solidFill>
                <a:latin typeface="Aptos"/>
              </a:rPr>
              <a:t>Placa del vehículo y correo del cliente.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07808" y="3291839"/>
            <a:ext cx="128016" cy="128016"/>
          </a:xfrm>
          <a:prstGeom prst="rect">
            <a:avLst/>
          </a:prstGeom>
          <a:solidFill>
            <a:srgbClr val="FFD500"/>
          </a:solidFill>
          <a:ln>
            <a:solidFill>
              <a:srgbClr val="FFD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45552" y="3200399"/>
            <a:ext cx="342900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7191F"/>
                </a:solidFill>
                <a:latin typeface="Aptos"/>
              </a:rPr>
              <a:t>Precios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5552" y="3493008"/>
            <a:ext cx="3429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06570"/>
                </a:solidFill>
                <a:latin typeface="Aptos"/>
              </a:rPr>
              <a:t>Valores no negativos; descuento según umbral.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07808" y="4041648"/>
            <a:ext cx="128016" cy="128016"/>
          </a:xfrm>
          <a:prstGeom prst="rect">
            <a:avLst/>
          </a:prstGeom>
          <a:solidFill>
            <a:srgbClr val="1B4D8F"/>
          </a:solidFill>
          <a:ln>
            <a:solidFill>
              <a:srgbClr val="1B4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45552" y="3950208"/>
            <a:ext cx="342900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7191F"/>
                </a:solidFill>
                <a:latin typeface="Aptos"/>
              </a:rPr>
              <a:t>Estados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5552" y="4242816"/>
            <a:ext cx="3429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06570"/>
                </a:solidFill>
                <a:latin typeface="Aptos"/>
              </a:rPr>
              <a:t>VENDIDO es terminal; servicio afecta disponibilidad.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07808" y="4791456"/>
            <a:ext cx="128016" cy="128016"/>
          </a:xfrm>
          <a:prstGeom prst="rect">
            <a:avLst/>
          </a:prstGeom>
          <a:solidFill>
            <a:srgbClr val="0B6B3A"/>
          </a:solidFill>
          <a:ln>
            <a:solidFill>
              <a:srgbClr val="0B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4700016"/>
            <a:ext cx="342900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7191F"/>
                </a:solidFill>
                <a:latin typeface="Aptos"/>
              </a:rPr>
              <a:t>Concurrencia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5552" y="4992624"/>
            <a:ext cx="3429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06570"/>
                </a:solidFill>
                <a:latin typeface="Aptos"/>
              </a:rPr>
              <a:t>Bloqueo transaccional protege de ventas duplicadas.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10160">
            <a:solidFill>
              <a:srgbClr val="E6E6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58368" y="6519672"/>
            <a:ext cx="64008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D818A"/>
                </a:solidFill>
                <a:latin typeface="Aptos"/>
              </a:rPr>
              <a:t>AUTODRIVE MOTORS  |  PRESENTACION DEL PROYECTO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519672"/>
            <a:ext cx="6858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D818A"/>
                </a:solidFill>
                <a:latin typeface="Aptos"/>
              </a:rPr>
              <a:t>08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548640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40000"/>
                </a:solidFill>
                <a:latin typeface="Aptos"/>
              </a:rPr>
              <a:t>08 / TECNOLOGÍAS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7191F"/>
                </a:solidFill>
                <a:latin typeface="Aptos"/>
              </a:rPr>
              <a:t>Stack tecnológico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71016"/>
            <a:ext cx="10789920" cy="40233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6570"/>
                </a:solidFill>
                <a:latin typeface="Aptos"/>
              </a:rPr>
              <a:t>Tecnologías elegidas para construir una API mantenible, persistente y sencilla de operar.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33375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8408" y="2157984"/>
            <a:ext cx="118872" cy="758952"/>
          </a:xfrm>
          <a:prstGeom prst="rect">
            <a:avLst/>
          </a:prstGeom>
          <a:solidFill>
            <a:srgbClr val="D40000"/>
          </a:solidFill>
          <a:ln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148840"/>
            <a:ext cx="256032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191F"/>
                </a:solidFill>
                <a:latin typeface="Aptos"/>
              </a:rPr>
              <a:t>Java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578608"/>
            <a:ext cx="256032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06570"/>
                </a:solidFill>
                <a:latin typeface="Aptos"/>
              </a:rPr>
              <a:t>Lenguaje del backend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920240"/>
            <a:ext cx="33375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81727" y="2157984"/>
            <a:ext cx="118872" cy="758952"/>
          </a:xfrm>
          <a:prstGeom prst="rect">
            <a:avLst/>
          </a:prstGeom>
          <a:solidFill>
            <a:srgbClr val="1B4D8F"/>
          </a:solidFill>
          <a:ln>
            <a:solidFill>
              <a:srgbClr val="1B4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79" y="2148840"/>
            <a:ext cx="256032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191F"/>
                </a:solidFill>
                <a:latin typeface="Aptos"/>
              </a:rPr>
              <a:t>Spring Boot 3.3.5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79" y="2578608"/>
            <a:ext cx="256032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06570"/>
                </a:solidFill>
                <a:latin typeface="Aptos"/>
              </a:rPr>
              <a:t>Aplicación y API REST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920240"/>
            <a:ext cx="33375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5048" y="2157984"/>
            <a:ext cx="118872" cy="758952"/>
          </a:xfrm>
          <a:prstGeom prst="rect">
            <a:avLst/>
          </a:prstGeom>
          <a:solidFill>
            <a:srgbClr val="0B6B3A"/>
          </a:solidFill>
          <a:ln>
            <a:solidFill>
              <a:srgbClr val="0B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2148840"/>
            <a:ext cx="256032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191F"/>
                </a:solidFill>
                <a:latin typeface="Aptos"/>
              </a:rPr>
              <a:t>Spring Data JPA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578608"/>
            <a:ext cx="256032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06570"/>
                </a:solidFill>
                <a:latin typeface="Aptos"/>
              </a:rPr>
              <a:t>Acceso a datos y ORM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47872"/>
            <a:ext cx="33375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8408" y="3785615"/>
            <a:ext cx="118872" cy="758952"/>
          </a:xfrm>
          <a:prstGeom prst="rect">
            <a:avLst/>
          </a:prstGeom>
          <a:solidFill>
            <a:srgbClr val="FFD500"/>
          </a:solidFill>
          <a:ln>
            <a:solidFill>
              <a:srgbClr val="FFD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3776472"/>
            <a:ext cx="256032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191F"/>
                </a:solidFill>
                <a:latin typeface="Aptos"/>
              </a:rPr>
              <a:t>PostgreSQL 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206240"/>
            <a:ext cx="256032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06570"/>
                </a:solidFill>
                <a:latin typeface="Aptos"/>
              </a:rPr>
              <a:t>Base de datos relacional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547872"/>
            <a:ext cx="33375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81727" y="3785615"/>
            <a:ext cx="118872" cy="758952"/>
          </a:xfrm>
          <a:prstGeom prst="rect">
            <a:avLst/>
          </a:prstGeom>
          <a:solidFill>
            <a:srgbClr val="D40000"/>
          </a:solidFill>
          <a:ln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79" y="3776472"/>
            <a:ext cx="256032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191F"/>
                </a:solidFill>
                <a:latin typeface="Aptos"/>
              </a:rPr>
              <a:t>HTML + CSS + JS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79" y="4206240"/>
            <a:ext cx="256032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06570"/>
                </a:solidFill>
                <a:latin typeface="Aptos"/>
              </a:rPr>
              <a:t>Frontend sin framework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3547872"/>
            <a:ext cx="33375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85048" y="3785615"/>
            <a:ext cx="118872" cy="758952"/>
          </a:xfrm>
          <a:prstGeom prst="rect">
            <a:avLst/>
          </a:prstGeom>
          <a:solidFill>
            <a:srgbClr val="17191F"/>
          </a:solidFill>
          <a:ln>
            <a:solidFill>
              <a:srgbClr val="171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3776472"/>
            <a:ext cx="256032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191F"/>
                </a:solidFill>
                <a:latin typeface="Aptos"/>
              </a:rPr>
              <a:t>Maven + JUnit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206240"/>
            <a:ext cx="256032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06570"/>
                </a:solidFill>
                <a:latin typeface="Aptos"/>
              </a:rPr>
              <a:t>Build y pruebas JVM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440680"/>
            <a:ext cx="10744200" cy="502920"/>
          </a:xfrm>
          <a:prstGeom prst="roundRect">
            <a:avLst>
              <a:gd name="adj" fmla="val 8000"/>
            </a:avLst>
          </a:prstGeom>
          <a:solidFill>
            <a:srgbClr val="17191F"/>
          </a:solidFill>
          <a:ln>
            <a:solidFill>
              <a:srgbClr val="171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513832"/>
            <a:ext cx="10378440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La interfaz se sirve desde la misma aplicación Spring Boot que publica los endpoints.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10160">
            <a:solidFill>
              <a:srgbClr val="E6E6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6519672"/>
            <a:ext cx="64008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D818A"/>
                </a:solidFill>
                <a:latin typeface="Aptos"/>
              </a:rPr>
              <a:t>AUTODRIVE MOTORS  |  PRESENTACION DEL PROYECTO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519672"/>
            <a:ext cx="6858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D818A"/>
                </a:solidFill>
                <a:latin typeface="Aptos"/>
              </a:rPr>
              <a:t>09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9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0000"/>
          </a:solidFill>
          <a:ln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64008" cy="6858000"/>
          </a:xfrm>
          <a:prstGeom prst="rect">
            <a:avLst/>
          </a:prstGeom>
          <a:solidFill>
            <a:srgbClr val="FFD500"/>
          </a:solidFill>
          <a:ln>
            <a:solidFill>
              <a:srgbClr val="FFD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384048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D500"/>
                </a:solidFill>
                <a:latin typeface="Aptos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43000"/>
            <a:ext cx="9784080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Una operación más clara y controlada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38528"/>
            <a:ext cx="95097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9D9DD"/>
                </a:solidFill>
                <a:latin typeface="Aptos"/>
              </a:rPr>
              <a:t>AutoDrive Motors convierte el registro diario de la concesionaria en un flujo trazable, con reglas consistentes desde la interfaz hasta la base de datos.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306324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20232B"/>
          </a:solidFill>
          <a:ln>
            <a:solidFill>
              <a:srgbClr val="44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3063240"/>
            <a:ext cx="2926080" cy="82296"/>
          </a:xfrm>
          <a:prstGeom prst="rect">
            <a:avLst/>
          </a:prstGeom>
          <a:solidFill>
            <a:srgbClr val="D40000"/>
          </a:solidFill>
          <a:ln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3355848"/>
            <a:ext cx="260604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D40000"/>
                </a:solidFill>
                <a:latin typeface="Aptos"/>
              </a:rPr>
              <a:t>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3694176"/>
            <a:ext cx="260604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del inventario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06324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20232B"/>
          </a:solidFill>
          <a:ln>
            <a:solidFill>
              <a:srgbClr val="44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3063240"/>
            <a:ext cx="2926080" cy="82296"/>
          </a:xfrm>
          <a:prstGeom prst="rect">
            <a:avLst/>
          </a:prstGeom>
          <a:solidFill>
            <a:srgbClr val="FFD500"/>
          </a:solidFill>
          <a:ln>
            <a:solidFill>
              <a:srgbClr val="FFD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1" y="3355848"/>
            <a:ext cx="260604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D500"/>
                </a:solidFill>
                <a:latin typeface="Aptos"/>
              </a:rPr>
              <a:t>SEGURIDAD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3694176"/>
            <a:ext cx="260604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en las ventas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306324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20232B"/>
          </a:solidFill>
          <a:ln>
            <a:solidFill>
              <a:srgbClr val="44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73568" y="3063240"/>
            <a:ext cx="2926080" cy="82296"/>
          </a:xfrm>
          <a:prstGeom prst="rect">
            <a:avLst/>
          </a:prstGeom>
          <a:solidFill>
            <a:srgbClr val="0B6B3A"/>
          </a:solidFill>
          <a:ln>
            <a:solidFill>
              <a:srgbClr val="0B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3355848"/>
            <a:ext cx="260604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B6B3A"/>
                </a:solidFill>
                <a:latin typeface="Aptos"/>
              </a:rPr>
              <a:t>TRAZABILIDAD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694176"/>
            <a:ext cx="260604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del historial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6112" y="4709160"/>
            <a:ext cx="10168128" cy="0"/>
          </a:xfrm>
          <a:prstGeom prst="line">
            <a:avLst/>
          </a:prstGeom>
          <a:ln w="12700">
            <a:solidFill>
              <a:srgbClr val="494C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96112" y="5010912"/>
            <a:ext cx="612648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D500"/>
                </a:solidFill>
                <a:latin typeface="Aptos"/>
              </a:rPr>
              <a:t>AUTOR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321808"/>
            <a:ext cx="7132320" cy="4206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ptos"/>
              </a:rPr>
              <a:t>Jose Angel Casiani Echeverria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166360"/>
            <a:ext cx="2651760" cy="5486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GRACIAS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6473952"/>
            <a:ext cx="10908792" cy="0"/>
          </a:xfrm>
          <a:prstGeom prst="line">
            <a:avLst/>
          </a:prstGeom>
          <a:ln w="10160">
            <a:solidFill>
              <a:srgbClr val="3A3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6519672"/>
            <a:ext cx="64008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9BBC1"/>
                </a:solidFill>
                <a:latin typeface="Aptos"/>
              </a:rPr>
              <a:t>AUTODRIVE MOTORS  |  PRESENTACION DEL PROYECTO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519672"/>
            <a:ext cx="6858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B9BBC1"/>
                </a:solidFill>
                <a:latin typeface="Aptos"/>
              </a:rPr>
              <a:t>10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5486400" cy="27432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D40000"/>
                </a:solidFill>
                <a:latin typeface="Aptos"/>
              </a:rPr>
              <a:t>06 / ESTRUCTURA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6692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17191F"/>
                </a:solidFill>
                <a:latin typeface="Aptos"/>
              </a:rPr>
              <a:t>Arquitectura: organización de carpetas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71016"/>
            <a:ext cx="10789920" cy="402336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06570"/>
                </a:solidFill>
                <a:latin typeface="Aptos"/>
              </a:rPr>
              <a:t>El código se separa por responsabilidades; recursos web y pruebas viven en sus propias ramas.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47088"/>
            <a:ext cx="5650992" cy="4315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47088"/>
            <a:ext cx="73152" cy="4315968"/>
          </a:xfrm>
          <a:prstGeom prst="rect">
            <a:avLst/>
          </a:prstGeom>
          <a:solidFill>
            <a:srgbClr val="D40000"/>
          </a:solidFill>
          <a:ln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02536"/>
            <a:ext cx="5074920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D40000"/>
                </a:solidFill>
                <a:latin typeface="Aptos"/>
              </a:rPr>
              <a:t>BACKEND  /  src/main/java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95728"/>
            <a:ext cx="5138928" cy="32461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7191F"/>
                </a:solidFill>
                <a:latin typeface="Consolas"/>
              </a:rPr>
              <a:t>com/tallerautos/
+-- client/       API externa de tasa
+-- config/       configuracion inicial
+-- controller/   endpoints REST
+-- dto/          contratos de entrada/salida
|   +-- request/
|   +-- response/
+-- entity/       entidades del dominio
+-- exception/    errores de negocio y API
+-- mapper/       conversion Entity / DTO
+-- repository/   acceso a datos
+-- service/      reglas y transacciones
+-- TallerAutosApplication.java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05856"/>
            <a:ext cx="5074920" cy="29260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06570"/>
                </a:solidFill>
                <a:latin typeface="Aptos"/>
              </a:rPr>
              <a:t>Flujo principal: Controller  &gt;  Service  &gt;  Repository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10528" y="1847088"/>
            <a:ext cx="5010912" cy="4315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10528" y="1847088"/>
            <a:ext cx="73152" cy="4315968"/>
          </a:xfrm>
          <a:prstGeom prst="rect">
            <a:avLst/>
          </a:prstGeom>
          <a:solidFill>
            <a:srgbClr val="1B4D8F"/>
          </a:solidFill>
          <a:ln>
            <a:solidFill>
              <a:srgbClr val="1B4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002536"/>
            <a:ext cx="4480560" cy="320040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B4D8F"/>
                </a:solidFill>
                <a:latin typeface="Aptos"/>
              </a:rPr>
              <a:t>RECURSOS, FRONTEND Y PRUEBAS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395728"/>
            <a:ext cx="4526280" cy="32461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30" b="0">
                <a:solidFill>
                  <a:srgbClr val="17191F"/>
                </a:solidFill>
                <a:latin typeface="Consolas"/>
              </a:rPr>
              <a:t>src/main/resources/
+-- application.properties
+-- static/
|   +-- index.html
|   +-- css/estilos.css
|   +-- js/app.js
|   +-- img/escudo.png
|   +-- fuentes/
src/test/java/com/tallerautos/
+-- ContextoApplicationTest.java
+-- service/
    +-- VentaServiceTest.java
    +-- Rnf008DegradacionTest.java
Raiz: pom.xml  |  schema.sql  |  reset_*.sql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5705856"/>
            <a:ext cx="4480560" cy="29260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06570"/>
                </a:solidFill>
                <a:latin typeface="Aptos"/>
              </a:rPr>
              <a:t>Frontend estatico servido por Spring Boot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73952"/>
            <a:ext cx="10908792" cy="7315"/>
          </a:xfrm>
          <a:prstGeom prst="rect">
            <a:avLst/>
          </a:prstGeom>
          <a:solidFill>
            <a:srgbClr val="E6E6E2"/>
          </a:solidFill>
          <a:ln>
            <a:solidFill>
              <a:srgbClr val="E6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6519672"/>
            <a:ext cx="6400800" cy="20116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7D818A"/>
                </a:solidFill>
                <a:latin typeface="Aptos"/>
              </a:rPr>
              <a:t>AUTODRIVE MOTORS  |  PRESENTACION DEL PROYECTO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519672"/>
            <a:ext cx="685800" cy="201168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7D818A"/>
                </a:solidFill>
                <a:latin typeface="Aptos"/>
              </a:rPr>
              <a:t>07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Presentaci?n del proyecto AutoDrive Motors</dc:title>
  <dc:subject>Sistema web de gesti?n para concesionaria de veh?culos</dc:subject>
  <dc:creator>Jose Angel Casiani Echeverria</dc:creator>
  <cp:keywords>AutoDrive Motors, gesti?n, concesionaria, API REST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